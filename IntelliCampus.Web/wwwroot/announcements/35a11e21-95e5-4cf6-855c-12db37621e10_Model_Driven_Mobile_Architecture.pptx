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875B0-A0D2-6BDC-C8F3-189370204574}" v="66" dt="2026-05-15T11:25:49.246"/>
    <p1510:client id="{6E43E28B-BFF0-ABB5-5194-B1E4F6D06CD7}" v="31" dt="2026-05-15T11:53:04.771"/>
    <p1510:client id="{8537C91F-1591-D8AE-3103-479AD6ED0AA7}" v="6" dt="2026-05-15T09:49:30.721"/>
    <p1510:client id="{8C373D40-0178-8663-DBEB-AAF3BF9DD9D4}" v="273" dt="2026-05-15T14:48:25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68AAC-A06B-4146-B091-4B8B56914C37}" type="datetimeFigureOut"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06C08-7902-4047-9458-C19D81B1C7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27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EE5-3A50-6A00-B8F6-3A8B87F0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62C7F-4EC9-AB44-8760-86F3F4DB4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C90CF-A9EE-5315-01E1-5CD14909A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80BF2-1CDE-9B1C-5D54-4238CBABF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09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1A305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6400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MOBILE DEVELOPMENT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Architecture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3200400" cy="3657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Abstract Models to Platform-Ready Mobile Applications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2976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46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CIM / PIM / PSM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06040" y="42976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465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Model Transformations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42976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465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Cross-Platform Code Generation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03720" y="42976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1A3465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Enterprise Patterns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07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1307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is MDA?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7625" y="1644281"/>
            <a:ext cx="3507500" cy="26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</a:rPr>
              <a:t>Motivation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07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21808" y="1307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The Three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655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</a:rPr>
              <a:t>CIM (Computation), PIM (Platform), PSM (Specific) in depth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20040" y="216712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67128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Model Transformations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PIM→PSM→Code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67128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Mobile-Specific Challenges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Platform fragmentation, UI adaptation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99816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99816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172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UI Modeling for Mobile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IFML (</a:t>
            </a:r>
            <a:r>
              <a:rPr lang="en-US" sz="1000" dirty="0">
                <a:solidFill>
                  <a:srgbClr val="64748B"/>
                </a:solidFill>
                <a:ea typeface="+mn-lt"/>
                <a:cs typeface="+mn-lt"/>
              </a:rPr>
              <a:t>Interaction Flow </a:t>
            </a:r>
            <a:r>
              <a:rPr lang="en-US" sz="1000" dirty="0" err="1">
                <a:solidFill>
                  <a:srgbClr val="64748B"/>
                </a:solidFill>
                <a:ea typeface="+mn-lt"/>
                <a:cs typeface="+mn-lt"/>
              </a:rPr>
              <a:t>ModelingLanguage</a:t>
            </a:r>
            <a:r>
              <a:rPr lang="en-US" sz="1000" dirty="0">
                <a:solidFill>
                  <a:srgbClr val="64748B"/>
                </a:solidFill>
              </a:rPr>
              <a:t>), UI patterns, adaptive design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3099816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99816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172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Enterprise Arch Patterns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MVC, MVP, MVVM compared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32504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032504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8408" y="41056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MDA Tools &amp; Frameworks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78408" y="4453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Eclipse, Obeo, Acceleo, Xtext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032504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032504"/>
            <a:ext cx="64008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41056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21808" y="41056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Benefits &amp; Limitations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4453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Trade-offs, real-world constraints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FOUNDATIONS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Model-Driven Architecture (MDA)?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120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2560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1E293B"/>
                </a:solidFill>
              </a:rPr>
              <a:t>The core idea </a:t>
            </a:r>
            <a:r>
              <a:rPr lang="en-US" sz="1400" i="1" dirty="0">
                <a:solidFill>
                  <a:srgbClr val="1E293B"/>
                </a:solidFill>
              </a:rPr>
              <a:t>is to express software at a high, abstract level (platform-independent) and then automatically transform that abstraction into concrete, deployable code for one or more target platforms.</a:t>
            </a:r>
            <a:endParaRPr lang="en-US" sz="1400" i="1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32461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35331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F6FE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3620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Separation of Concerns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36208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4748B"/>
                </a:solidFill>
              </a:rPr>
              <a:t>Business logic is kept separate from platform-</a:t>
            </a:r>
            <a:r>
              <a:rPr lang="en-US" sz="950">
                <a:solidFill>
                  <a:srgbClr val="64748B"/>
                </a:solidFill>
              </a:rPr>
              <a:t>specific implementation details. 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084832"/>
            <a:ext cx="32461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15000" y="224942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26771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36208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Model as First-Class Artifact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36208" y="24323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Models are not just documentation — they ARE the primary deliverable.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0" y="2980944"/>
            <a:ext cx="32461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0" y="31455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163824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36208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Automated Transformations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36208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Tools translate models between abstraction levels automatically.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5" name="Text 20"/>
          <p:cNvSpPr/>
          <p:nvPr/>
        </p:nvSpPr>
        <p:spPr>
          <a:xfrm>
            <a:off x="502920" y="4005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📌  Key Insight: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828800" y="40050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E8FF"/>
                </a:solidFill>
              </a:rPr>
              <a:t>With MDA, you write your system ONCE at a conceptual level. Transformation engines then generate multiple platform-specific implementations (Android, iOS, Web) from that single model.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CORE CONCEPTS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Fundamental Models of MDA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04677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74043" y="167043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</a:rPr>
              <a:t>Computation Independent Model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9768" y="21214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9768" y="239572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business / requirements view. Describes WHAT the system must do from a domain perspective.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9768" y="29443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Written in business language (not UML)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32918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Captures domain rules, processes, actors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29768" y="36393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Platform &amp; technology agnostic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" y="398678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Often expressed as use cases, BPMN diagrams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" y="43342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Example: 'User logs in and views their profile'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143000"/>
            <a:ext cx="2743200" cy="914400"/>
          </a:xfrm>
          <a:prstGeom prst="rect">
            <a:avLst/>
          </a:prstGeom>
          <a:solidFill>
            <a:srgbClr val="1F6FEB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344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77640" y="128811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PIM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300123" y="167043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</a:rPr>
              <a:t>Platform Independent Model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55848" y="21214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55848" y="239572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logical design. Describes HOW the system is structured, without referencing any platform.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355848" y="29443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Typically expressed in UML, OCL, or DSLs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355848" y="32918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Contains classes, relationships, state machines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55848" y="36393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No Android/iOS-specific elements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55848" y="398678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Stable across platform changes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355848" y="43342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Example: LoginController, UserProfile class diagram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172200" y="114300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72200" y="1143000"/>
            <a:ext cx="2743200" cy="914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20285" y="128811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PSM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6226203" y="171185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</a:rPr>
              <a:t>Platform Specific Model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281928" y="21214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81928" y="239572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implementation blueprint. Augments the PIM with platform details for a specific target.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281928" y="29443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Derived from PIM via a model transformation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81928" y="32918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Contains Android Activities or iOS ViewControllers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281928" y="36393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References platform APIs and SDKs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281928" y="398678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One PIM → many PSMs (Android PSM, iOS PSM)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281928" y="43342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Example: LoginActivity (Android) / LoginViewController (iOS)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072384" y="2560320"/>
            <a:ext cx="9144" cy="914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2" name="Shape 37"/>
          <p:cNvSpPr/>
          <p:nvPr/>
        </p:nvSpPr>
        <p:spPr>
          <a:xfrm>
            <a:off x="5998464" y="2560320"/>
            <a:ext cx="9144" cy="9144"/>
          </a:xfrm>
          <a:prstGeom prst="rect">
            <a:avLst/>
          </a:prstGeom>
          <a:solidFill>
            <a:srgbClr val="1F6FEB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MDA Transformation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</a:rPr>
              <a:t>How abstract requirements flow down to platform-specific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371600" cy="1371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Domain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Requirements</a:t>
            </a:r>
            <a:endParaRPr lang="en-US" sz="1150" dirty="0" err="1"/>
          </a:p>
        </p:txBody>
      </p:sp>
      <p:sp>
        <p:nvSpPr>
          <p:cNvPr id="6" name="Text 4"/>
          <p:cNvSpPr/>
          <p:nvPr/>
        </p:nvSpPr>
        <p:spPr>
          <a:xfrm>
            <a:off x="13716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Business rules, use cases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618488" y="2029968"/>
            <a:ext cx="777240" cy="640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1947672"/>
            <a:ext cx="64008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1371600"/>
            <a:ext cx="1371600" cy="13716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CIM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659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Computation Independent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47288" y="2029968"/>
            <a:ext cx="777240" cy="640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947672"/>
            <a:ext cx="64008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PIM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947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Platform Independent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76088" y="2029968"/>
            <a:ext cx="777240" cy="640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1947672"/>
            <a:ext cx="64008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0" y="1371600"/>
            <a:ext cx="1371600" cy="1371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PSM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235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Platform Specific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04888" y="2029968"/>
            <a:ext cx="777240" cy="640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8120" y="1947672"/>
            <a:ext cx="64008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1371600"/>
            <a:ext cx="1371600" cy="1371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523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Deployable application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33832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A3055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24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CIM→PIM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</a:rPr>
              <a:t>Manual/semi-auto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33832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A3055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PIM→PSM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Model Transformation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33832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A3055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</a:rPr>
              <a:t>PSM→Code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</a:rPr>
              <a:t>Code Generation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114800"/>
            <a:ext cx="64008" cy="7315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ATL / QVT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" y="4425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 languages for writing PIM→PSM model-to-model transformations (M2M)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4114800"/>
            <a:ext cx="64008" cy="7315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9" name="Text 37"/>
          <p:cNvSpPr/>
          <p:nvPr/>
        </p:nvSpPr>
        <p:spPr>
          <a:xfrm>
            <a:off x="3438144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Acceleo / Xpand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38144" y="4425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Template-based languages for model-to-text (M2T) code generation from PSMs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4114800"/>
            <a:ext cx="2788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4114800"/>
            <a:ext cx="64008" cy="7315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Round-Trip Eng.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64224" y="4425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Changes in code can be propagated back up to the model (model synchronization)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vs Traditional Code-Centric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38404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170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Traditional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1704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</a:rPr>
              <a:t>MDA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Primary Artifact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5727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 code written by hand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12180" y="1548275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UML/DSL models that generate code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1639715"/>
            <a:ext cx="256032" cy="2560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20040" y="2048256"/>
            <a:ext cx="850392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Platform Change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97480" y="2048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Requires full rewrite for each platform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12180" y="2023763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Change the PSM or add a new one; PIM remains</a:t>
            </a:r>
            <a:endParaRPr lang="en-US" sz="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2115203"/>
            <a:ext cx="256032" cy="2560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20040" y="2523744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2523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97480" y="25237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Code IS the design (often out of sync)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012180" y="2499251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Model IS the design; always up-to-date</a:t>
            </a:r>
            <a:endParaRPr lang="en-US" sz="9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2590691"/>
            <a:ext cx="256032" cy="25603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20040" y="2999232"/>
            <a:ext cx="850392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0"/>
          <p:cNvSpPr/>
          <p:nvPr/>
        </p:nvSpPr>
        <p:spPr>
          <a:xfrm>
            <a:off x="411480" y="2999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Abstraction Level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697480" y="29992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Low: developers think in classes/methods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012180" y="2974739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High: architects think in domain concepts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3066179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20040" y="3474720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4"/>
          <p:cNvSpPr/>
          <p:nvPr/>
        </p:nvSpPr>
        <p:spPr>
          <a:xfrm>
            <a:off x="41148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Consistency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69748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Different developers, different styles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012180" y="3450227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Model rules enforce architectural consistency</a:t>
            </a:r>
            <a:endParaRPr lang="en-US" sz="9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3541667"/>
            <a:ext cx="256032" cy="25603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320040" y="3950208"/>
            <a:ext cx="850392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28"/>
          <p:cNvSpPr/>
          <p:nvPr/>
        </p:nvSpPr>
        <p:spPr>
          <a:xfrm>
            <a:off x="4114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Initial Investment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2697480" y="39502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 — start coding immediately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012180" y="3925715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</a:rPr>
              <a:t>High — tooling setup 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4017155"/>
            <a:ext cx="256032" cy="256032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320040" y="4425696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2"/>
          <p:cNvSpPr/>
          <p:nvPr/>
        </p:nvSpPr>
        <p:spPr>
          <a:xfrm>
            <a:off x="411480" y="4425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Repetitive Code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2697480" y="44256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Written by hand (error-prone, slow)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6012180" y="4401203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Generated automatically (boilerplate-free)</a:t>
            </a:r>
            <a:endParaRPr lang="en-US" sz="95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63" y="4492643"/>
            <a:ext cx="256032" cy="256032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651760" y="1170432"/>
            <a:ext cx="9144" cy="37124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5" name="Shape 36"/>
          <p:cNvSpPr/>
          <p:nvPr/>
        </p:nvSpPr>
        <p:spPr>
          <a:xfrm>
            <a:off x="5623560" y="1170432"/>
            <a:ext cx="9144" cy="3712464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MOBILE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 Development Demands an Architecture-First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F6F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96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Platform Fragmentation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5910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Android alone has thousands of device/OS combinations. iOS and Android have fundamentally different UI paradigms, navigation models, and lifecycle management. Without abstraction, code must be duplicated.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46304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996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80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Rapid SDK Evolution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40680" y="15910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Mobile OS updates occur annually. APIs are deprecated regularly. An architecture that </a:t>
            </a:r>
            <a:r>
              <a:rPr lang="en-US" sz="900">
                <a:solidFill>
                  <a:srgbClr val="64748B"/>
                </a:solidFill>
              </a:rPr>
              <a:t>couples'</a:t>
            </a:r>
            <a:r>
              <a:rPr lang="en-US" sz="900" dirty="0">
                <a:solidFill>
                  <a:srgbClr val="64748B"/>
                </a:solidFill>
              </a:rPr>
              <a:t> business logic to platform APIs forces expensive refactoring with every major SDK release.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2468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7432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89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797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Security &amp; Permissions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97280" y="28712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Mobile apps manage sensitive data with OS-enforced sandboxing and permission models that differ per platform. Security policies need to be modeled separately from implementation.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63440" y="2468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7432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797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Offline &amp; Sync Complexity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40680" y="28712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Mobile devices lose connectivity. Data synchronization, local caching strategies, and conflict resolution are architectural concerns that should be defined at the model level.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40233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9770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599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UI/UX Paradigm Differences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97280" y="41513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Material Design (Android) vs Human Interface Guidelines (iOS) impose distinct interaction patterns. A unified UI model must adapt to each platform's visual language.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663440" y="37490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40233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5993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Team Scalability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40680" y="41513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Large enterprise apps with multiple teams require shared architectural contracts. Models serve as team boundaries — backend, mobile, QA teams can all work from the same PIM.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Architecture Stack in a Model-Driven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303520" cy="65836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Presentation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99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E8FF"/>
                </a:solidFill>
              </a:rPr>
              <a:t>UI components, navigation, screens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" y="1892808"/>
            <a:ext cx="4974336" cy="658368"/>
          </a:xfrm>
          <a:prstGeom prst="rect">
            <a:avLst/>
          </a:prstGeom>
          <a:solidFill>
            <a:srgbClr val="1F6F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/ ViewModel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E8FF"/>
                </a:solidFill>
              </a:rPr>
              <a:t>State management, use-case orchestration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" y="2615184"/>
            <a:ext cx="4645152" cy="658368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26151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Domain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E8FF"/>
                </a:solidFill>
              </a:rPr>
              <a:t>Business rules, entities, domain events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" y="3337560"/>
            <a:ext cx="4315968" cy="658368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42416" y="3337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" y="36667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E8FF"/>
                </a:solidFill>
              </a:rPr>
              <a:t>Repositories, data sources, DTOs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8408" y="4059936"/>
            <a:ext cx="3986784" cy="658368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07008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/ Platform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E8FF"/>
                </a:solidFill>
              </a:rPr>
              <a:t>OS APIs, sensors, network, storage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1170432"/>
            <a:ext cx="28803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1243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How MDA Maps to Each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1664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Presentation: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1901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UI Model (IFML / UML Use Cases) + Platform-specific PSM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22860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ViewModel: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5237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PIM state machine + behavior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2907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Domain: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Core PIM — domain class diagram, OCL constraints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35295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Data: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PIM data model → PSM generates repositories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4151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Infrastructure: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4389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PSM platform bridge; swappable per target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⬇ Each layer is expressed in the model and transformed to platform code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UI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User Interfaces for Mobile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One of the most complex parts of mobile MDA is modeling the UI in a platform-independent way. Several standards have emerged to express UI interactions as models before generating platform-specific screens.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78892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2788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IFML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1993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Interaction Flow Modeling Language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OMG official standard for specifying UI interaction flows. </a:t>
            </a:r>
            <a:r>
              <a:rPr lang="en-US" sz="950">
                <a:solidFill>
                  <a:srgbClr val="1E293B"/>
                </a:solidFill>
              </a:rPr>
              <a:t>Model's</a:t>
            </a:r>
            <a:r>
              <a:rPr lang="en-US" sz="950" dirty="0">
                <a:solidFill>
                  <a:srgbClr val="1E293B"/>
                </a:solidFill>
              </a:rPr>
              <a:t> pages/views, events, parameters, and navigation flows independently of platform. Direct extension of UML.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913632"/>
            <a:ext cx="2788920" cy="73152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0233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Best used for: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26110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Define the app's navigation graph and screen interactions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78892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920240"/>
            <a:ext cx="2788920" cy="5029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UMLi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34840" y="1993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UML for Interactive Applications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248716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Extends UML with stereotypes for UI elements (Window, Button, List, Form). Enables round-trip engineering between UI model and generated code.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913632"/>
            <a:ext cx="2788920" cy="73152"/>
          </a:xfrm>
          <a:prstGeom prst="rect">
            <a:avLst/>
          </a:prstGeom>
          <a:solidFill>
            <a:srgbClr val="1F6FEB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40233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FEB"/>
                </a:solidFill>
              </a:rPr>
              <a:t>Best used for: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426110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Detailed widget-level modeling of each screen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920240"/>
            <a:ext cx="278892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920240"/>
            <a:ext cx="278892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UIML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60920" y="1993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User Interface Markup Language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63640" y="248716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 XML-based language for describing UIs platform-independently. A rendering engine translates UIML to native platform widgets at runtime or compile time.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913632"/>
            <a:ext cx="2788920" cy="73152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0233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Best used for: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426110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Cross-platform UI generation from a single source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Patterns in Model-Driven Mobile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889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8892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207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Model – View – Controller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 Controller mediates between the Model (data) and the View (UI). The Controller responds to user actions, updates the Model, and selects the next View.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✔ Strengths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Simple and well-understood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Clear separation of concerns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364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Good for simple UI flows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553712"/>
            <a:ext cx="2788920" cy="356616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553712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📱 Used natively in iOS (UIKit). Android historically used it loosely.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115568"/>
            <a:ext cx="27889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15568"/>
            <a:ext cx="2788920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89120" y="1207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Model – View – Presenter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 Presenter handles all UI logic. The View is a passive interface that delegates all user events to the Presenter and displays results.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606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✔ Strengths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View is completely dumb — easy to test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Presenter has no Android/iOS dependency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3364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Clear contract via interface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4553712"/>
            <a:ext cx="2788920" cy="356616"/>
          </a:xfrm>
          <a:prstGeom prst="rect">
            <a:avLst/>
          </a:prstGeom>
          <a:solidFill>
            <a:srgbClr val="1F6FEB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553712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📱 Popular on Android before Jetpack. Enables 100% unit-testable presenters.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1115568"/>
            <a:ext cx="27889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115568"/>
            <a:ext cx="2788920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MVVM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1207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E8FF"/>
                </a:solidFill>
              </a:rPr>
              <a:t>Model – View – ViewModel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3640" y="1755648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 ViewModel exposes observable state streams. The View subscribes and auto-updates. No direct View-ViewModel reference; data binding is automatic.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606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✔ Strengths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Data binding eliminates UI update code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31089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ViewModel survives config changes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63640" y="3364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Reactive — ideal for async mobile data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4553712"/>
            <a:ext cx="2788920" cy="356616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4553712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📱 Current Google (Jetpack/Compose) and Apple (SwiftUI/Combine) recommended pattern.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in Depth — The Preferred Model-Driven Mobile Pattern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(Activity / Fragment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/ Composable)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560320" cy="914400"/>
          </a:xfrm>
          <a:prstGeom prst="rect">
            <a:avLst/>
          </a:prstGeom>
          <a:solidFill>
            <a:srgbClr val="1F6F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(State, Commands,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Use-Case Logic)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639312"/>
            <a:ext cx="2560320" cy="9144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6393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/ REPOSITORY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(Room DB, API,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Domain Logic)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23391" y="2132275"/>
            <a:ext cx="9144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6287" y="213227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⬆ events / user actions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28692" y="2133997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6FEB"/>
                </a:solidFill>
              </a:rPr>
              <a:t>⬇ observe(uiState)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15109" y="3381557"/>
            <a:ext cx="9144" cy="228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523462" y="3364992"/>
            <a:ext cx="1180106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50">
                <a:solidFill>
                  <a:srgbClr val="64748B"/>
                </a:solidFill>
              </a:rPr>
              <a:t>⬆ calls use-case methods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1612128" y="3366715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6FEB"/>
                </a:solidFill>
              </a:rPr>
              <a:t>⬇ LiveData / Flow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0" y="1188720"/>
            <a:ext cx="5623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88720"/>
            <a:ext cx="54864" cy="9144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Why ViewModel survives rotation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527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ViewModel is scoped to the Activity/Fragment lifecycle, NOT the screen rotation. When the device rotates, the Activity is recreated but the ViewModel is retained by the ViewModelStore. State is never lost.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212848"/>
            <a:ext cx="5623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212848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2585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State vs Events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5511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UI State (what's shown on screen) flows from ViewModel → View via StateFlow/LiveData. UI Events (button clicks, navigation) flow from View → ViewModel via event functions. This one-directional flow prevents bugs.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236976"/>
            <a:ext cx="5623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236976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2826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Unidirectional Data Flow (UDF)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5753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Modern MVVM enforces UDF: Events go UP (View → ViewModel), State flows DOWN (ViewModel → View). This makes the app entirely predictable and easy to test, as you only need to verify state transitions.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4261104"/>
            <a:ext cx="5623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4261104"/>
            <a:ext cx="54864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3068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MDA Connection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5994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 MDA, the ViewModel is the PIM-level concept. The platform-specific binding (Data Binding XML for Android, @StateObject in SwiftUI) is the PSM. The transformation generates both from a single behavioral model.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WORKED EXAMPLE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→ PSM Transformation: A Concrete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8323" y="895781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Transforming a Login Use Case from Platform-Independent Model to Android and iOS PSMs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170432"/>
            <a:ext cx="3108960" cy="1444752"/>
          </a:xfrm>
          <a:prstGeom prst="rect">
            <a:avLst/>
          </a:prstGeom>
          <a:solidFill>
            <a:srgbClr val="1F6F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63240" y="1170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PIM — Platform Independent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153619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«usecase» Login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username: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password: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authenticate(): Boolean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onSuccess(): void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onError(msg: String): void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2557" y="2915459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59669"/>
                </a:solidFill>
              </a:rPr>
              <a:t>Transform: Android PSM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15491" y="2918219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</a:rPr>
              <a:t>Transform: iOS PSM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3931920" cy="1691640"/>
          </a:xfrm>
          <a:prstGeom prst="rect">
            <a:avLst/>
          </a:prstGeom>
          <a:solidFill>
            <a:srgbClr val="1B3A1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3931920" cy="34747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" y="3154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PSM — Android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35478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LoginActivity extends AppCompatActivity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@Inject loginViewModel: LoginViewModel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override fun onCreate()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btnLogin.setOnClickListener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viewModel.authenticate(etUser.text, etPass.text)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892040" y="3154680"/>
            <a:ext cx="3931920" cy="1691640"/>
          </a:xfrm>
          <a:prstGeom prst="rect">
            <a:avLst/>
          </a:prstGeom>
          <a:solidFill>
            <a:srgbClr val="1F1B3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92040" y="3154680"/>
            <a:ext cx="3931920" cy="3474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3154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PSM — iOS (SwiftUI)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983480" y="35478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LoginView: View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@StateObject var vm: LoginViewModel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body: some View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Button("Login")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vm.authenticate(username, password)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20040" y="491947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Same PIM → Two platform-specific implementations generated automatically by the transformation engine</a:t>
            </a:r>
            <a:endParaRPr lang="en-US" sz="95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42AD68-9352-962C-D446-D4165FF62B2D}"/>
              </a:ext>
            </a:extLst>
          </p:cNvPr>
          <p:cNvCxnSpPr/>
          <p:nvPr/>
        </p:nvCxnSpPr>
        <p:spPr>
          <a:xfrm flipH="1">
            <a:off x="3477523" y="2614882"/>
            <a:ext cx="572847" cy="54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A63B44-4E98-3EE4-3887-42F9F798AF61}"/>
              </a:ext>
            </a:extLst>
          </p:cNvPr>
          <p:cNvCxnSpPr>
            <a:cxnSpLocks/>
          </p:cNvCxnSpPr>
          <p:nvPr/>
        </p:nvCxnSpPr>
        <p:spPr>
          <a:xfrm>
            <a:off x="5094592" y="2621938"/>
            <a:ext cx="499596" cy="53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TOOLING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Tools &amp; Frameworks for Mobile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788920" cy="3840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Eclipse Modeling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Framework (EMF)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6FEB"/>
                </a:solidFill>
              </a:rPr>
              <a:t>Metamodeling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The industry-standard Java framework for defining metamodels (Ecore). EMF-generated code provides the runtime for creating, editing, and persisting models. The foundation for most MDA tools.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70432"/>
            <a:ext cx="27889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Obeo Designer /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Sirius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910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Graphical Modeling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Eclipse-based tools for creating graphical modeling workbenches. You define your DSL visually and Sirius generates a diagram editor. Architects design models by dragging components on a canvas.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170432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70432"/>
            <a:ext cx="27889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Acceleo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5910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Code Generation (M2T)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An OMG-compliant Model-to-Text transformation language. Templates written in Acceleo take a model as input and output source files. Widely used to generate Android/iOS boilerplate from UML models.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08960"/>
            <a:ext cx="278892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ATL / QVT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5295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Model Transformation (M2M)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ATL (ATLAS Transformation Language) and QVT (Query/View/Transformation) are standards for transforming one model into another. Used for PIM → PSM transformations in the MDA pipeline.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08960"/>
            <a:ext cx="27889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Xtext / Xbase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5295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DSL Definition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767328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An Eclipse framework for defining textual Domain-Specific Languages with full IDE support (syntax highlighting, validation, auto-completion). Used to create text-based PIMs for mobile architectures.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108960"/>
            <a:ext cx="27889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108960"/>
            <a:ext cx="278892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108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AndroidAnnotations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 Dagger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5295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Platform PSM Tools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3767328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While not pure MDA tools, annotation processors like AndroidAnnotations and DI frameworks like Dagger serve as partial PSM→Code generators, reducing boilerplate from architectural models.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Model-Driven Mobile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984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F6F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350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</a:rPr>
              <a:t>60–70%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boilerplate reduction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976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Faster Development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" y="21762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Code generation eliminates repetitive boilerplate. Screens, repositories, ViewModels, and DI wiring are generated from model annotations, freeing developers for business logic.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117043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2984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3502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1 → 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977640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platforms from one PIM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35584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True Cross-Platform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55848" y="21762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 single PIM can target Android (Kotlin/Compose), iOS (Swift/SwiftUI), and even web (React Native) by swapping the PSM and code generation templates.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72200" y="117043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81928" y="12984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33502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12618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</a:rPr>
              <a:t>100%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903720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testable ViewModels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81928" y="18836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Testability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81928" y="21762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When business logic lives in the PIM/ViewModel layer with no platform dependencies, unit tests can run on the JVM without an emulator — dramatically faster CI.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20040" y="309067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29768" y="32186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59669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5526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156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</a:rPr>
              <a:t>∞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1051560" y="35295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reusability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29768" y="38039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Architectural Consistency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29768" y="409651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All teams generate code from the same templates and metamodel rules. No more 'it depends on the developer' — the architecture is encoded in the model.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3246120" y="309067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55848" y="32186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55264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7764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</a:rPr>
              <a:t>N+1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3977640" y="35295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platform ready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3355848" y="38039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Future-Proofing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55848" y="409651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When a new platform emerges (e.g. foldables, wearables, TV), you create a new PSM template. The PIM doesn't change — only the target transformation changes.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6172200" y="3090672"/>
            <a:ext cx="27889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281928" y="32186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255264"/>
            <a:ext cx="384048" cy="38404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903720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Live</a:t>
            </a:r>
            <a:endParaRPr lang="en-US" sz="2200" dirty="0"/>
          </a:p>
        </p:txBody>
      </p:sp>
      <p:sp>
        <p:nvSpPr>
          <p:cNvPr id="44" name="Text 36"/>
          <p:cNvSpPr/>
          <p:nvPr/>
        </p:nvSpPr>
        <p:spPr>
          <a:xfrm>
            <a:off x="6903720" y="35295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documentation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6281928" y="38039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Always-Current Docs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281928" y="409651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The model IS the documentation. Unlike Word documents or wikis, the architectural model is always in sync with the application because the code is generated from it.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Challenges of MDA in Mobile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129844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1280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High Up-Front Investment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Defining metamodels, building transformation templates, and training the team takes months before a single line of app code is generated. Not suitable for prototypes or MVPs.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70432"/>
            <a:ext cx="41605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09560" y="129844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2984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93792" y="1280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Generated Code Quality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6276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Auto-generated code is often verbose, less readable, and harder to debug than hand-written code. Developers may need to understand both the model AND the generated output — doubling the knowledge required.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32304"/>
            <a:ext cx="41605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66160" y="256032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" y="25420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Tooling Maturity &amp; Lock-In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88950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MDA tools (especially Eclipse-based) can be complex, unstable, and hard to integrate with modern mobile toolchains (Android Studio, Xcode). Vendor/tool lock-in is a real risk.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432304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32304"/>
            <a:ext cx="41605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09560" y="256032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93792" y="25420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Model Expressiveness Limits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88950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Not every concept can be expressed in a model. Subtle platform-specific behaviors (e.g., Android's back stack, iOS's gesture recognizers) often require manual code that exists outside the model.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694176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694176"/>
            <a:ext cx="41605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566160" y="38221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356616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50392" y="380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Team Skill Gap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41513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MDA requires architects fluent in metamodeling, OCL, transformation languages, and DSL design — skills that are rarer and more expensive than standard Android/iOS developers.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694176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694176"/>
            <a:ext cx="41605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F6FF"/>
                </a:solidFill>
              </a:rPr>
              <a:t>06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909560" y="38221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3822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 Risk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93792" y="380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Rapid Platform Change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41513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Mobile platforms evolve fast (Jetpack Compose, SwiftUI). Every major platform update may require updating PSMs and code generation templates, which can negate productivity gains.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Application: Enterprise Banking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943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8FF"/>
                </a:solidFill>
              </a:rPr>
              <a:t>Scenario: A bank needs to deliver the same mobile banking app on Android, iOS, and a Progressive Web App (PWA). The core business logic must remain consistent across all three.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08483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084832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745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Customer can view account balance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9535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Customer can initiate transfers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57530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Compliance: 2FA required for transfers &gt; $500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419709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Domain rules modeled in BPMN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874520"/>
            <a:ext cx="208483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874520"/>
            <a:ext cx="2084832" cy="3840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8745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AccountViewModel: Observable&lt;AccountState&gt;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9535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TransferUseCase: validate(), execute()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57530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AuthRepository: interface (no impl)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419709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2FA policy in OCL constraints on PIM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874520"/>
            <a:ext cx="208483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874520"/>
            <a:ext cx="2084832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8745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PSM (Android)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AccountFragment + Data Binding XML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TransferViewModel (Jetpack)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57530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BiometricPrompt for 2FA (Android API)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419709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Room DAO generated for caching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874520"/>
            <a:ext cx="208483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874520"/>
            <a:ext cx="2084832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18745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PSM (iOS)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33172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AccountView (SwiftUI)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29535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TransferViewModel (@ObservableObject)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575304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LocalAuthentication.framework for 2FA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419709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▸  Core Data entities generated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983480"/>
            <a:ext cx="85039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5029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 Outcome: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00200" y="5029200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The 2FA compliance rule, defined once in the CIM, was automatically enforced across all three PSMs. When regulations changed, only the CIM and one PIM constraint were updated — no platform code was manually changed.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Trends: Where Model-Driven Mobile is Heading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647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1F6F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AI-Assisted Model Generation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645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Large Language Models (like GPT-4 / Claude) can generate initial UML PIMs from natural language requirements. The developer reviews and refines the model, then the transformation pipeline takes over — drastically reducing modeling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764792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105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Low-Code / No-Code MDA Platforms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1645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Platforms like OutSystems, Mendix, and Appsmith implement MDA concepts behind a visual drag-and-drop interface. Business analysts can define models; the platform generates enterprise-grade mobile apps automatically.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10896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0332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89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49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Declarative UI as PSM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3000" y="358444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4748B"/>
                </a:solidFill>
                <a:ea typeface="+mn-lt"/>
                <a:cs typeface="+mn-lt"/>
              </a:rPr>
              <a:t>In frameworks like Jetpack Compose (Android) and </a:t>
            </a:r>
            <a:r>
              <a:rPr lang="en-US" sz="950">
                <a:solidFill>
                  <a:srgbClr val="64748B"/>
                </a:solidFill>
                <a:ea typeface="+mn-lt"/>
                <a:cs typeface="+mn-lt"/>
              </a:rPr>
              <a:t>SwiftUI</a:t>
            </a:r>
            <a:r>
              <a:rPr lang="en-US" sz="950" dirty="0">
                <a:solidFill>
                  <a:srgbClr val="64748B"/>
                </a:solidFill>
                <a:ea typeface="+mn-lt"/>
                <a:cs typeface="+mn-lt"/>
              </a:rPr>
              <a:t> (iOS), the UI is written </a:t>
            </a:r>
            <a:r>
              <a:rPr lang="en-US" sz="950" i="1" dirty="0">
                <a:solidFill>
                  <a:srgbClr val="64748B"/>
                </a:solidFill>
                <a:ea typeface="+mn-lt"/>
                <a:cs typeface="+mn-lt"/>
              </a:rPr>
              <a:t>declaratively</a:t>
            </a:r>
            <a:r>
              <a:rPr lang="en-US" sz="950" dirty="0">
                <a:solidFill>
                  <a:srgbClr val="64748B"/>
                </a:solidFill>
                <a:ea typeface="+mn-lt"/>
                <a:cs typeface="+mn-lt"/>
              </a:rPr>
              <a:t>, and that makes it closer to a </a:t>
            </a:r>
            <a:r>
              <a:rPr lang="en-US" sz="950">
                <a:solidFill>
                  <a:srgbClr val="64748B"/>
                </a:solidFill>
                <a:ea typeface="+mn-lt"/>
                <a:cs typeface="+mn-lt"/>
              </a:rPr>
              <a:t>platform-specific model (PSM).</a:t>
            </a:r>
            <a:br>
              <a:rPr lang="en-US" sz="950" dirty="0">
                <a:solidFill>
                  <a:srgbClr val="64748B"/>
                </a:solidFill>
                <a:ea typeface="+mn-lt"/>
                <a:cs typeface="+mn-lt"/>
              </a:rPr>
            </a:br>
            <a:r>
              <a:rPr lang="en-US" sz="950">
                <a:solidFill>
                  <a:srgbClr val="64748B"/>
                </a:solidFill>
                <a:ea typeface="+mn-lt"/>
                <a:cs typeface="+mn-lt"/>
              </a:rPr>
              <a:t>You describe what the screen should look like, not step-by-step how to draw it.</a:t>
            </a:r>
          </a:p>
          <a:p>
            <a:endParaRPr lang="en-US" sz="950" dirty="0">
              <a:ea typeface="+mn-lt"/>
              <a:cs typeface="+mn-lt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310896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370332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05966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490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Digital Twins &amp; IoT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58444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64748B"/>
                </a:solidFill>
                <a:ea typeface="+mn-lt"/>
                <a:cs typeface="+mn-lt"/>
              </a:rPr>
              <a:t>MDA is used in IoT and digital twin systems to generate both smart device logic and mobile apps from shared models, keeping physical devices and digital systems synchronized automatically.</a:t>
            </a:r>
            <a:br>
              <a:rPr lang="en-US" sz="950" dirty="0">
                <a:solidFill>
                  <a:srgbClr val="64748B"/>
                </a:solidFill>
                <a:ea typeface="+mn-lt"/>
                <a:cs typeface="+mn-lt"/>
              </a:rPr>
            </a:br>
            <a:r>
              <a:rPr lang="en-US" sz="950">
                <a:solidFill>
                  <a:srgbClr val="64748B"/>
                </a:solidFill>
                <a:ea typeface="+mn-lt"/>
                <a:cs typeface="+mn-lt"/>
              </a:rPr>
              <a:t>One model can define both the smart device and its mobile app, so they work together automatically.</a:t>
            </a:r>
          </a:p>
          <a:p>
            <a:endParaRPr lang="en-US" sz="950" dirty="0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Model-Driven Mobile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8FF"/>
                </a:solidFill>
              </a:rPr>
              <a:t>MDA's three layers — CIM, PIM, PSM — separate business concerns from platform implementation, enabling a single design to target multiple mobile platforms.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347472" cy="347472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185416"/>
            <a:ext cx="78638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D1E8FF"/>
                </a:solidFill>
              </a:rPr>
              <a:t>Model transformations</a:t>
            </a:r>
            <a:r>
              <a:rPr lang="en-US" sz="1050" dirty="0">
                <a:solidFill>
                  <a:srgbClr val="D1E8FF"/>
                </a:solidFill>
              </a:rPr>
              <a:t> automate the most tedious, error-prone parts of mobile development.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862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8FF"/>
                </a:solidFill>
              </a:rPr>
              <a:t>MVVM is the natural mobile architecture pattern in MDA because the ViewModel is a pure PIM concept, and the data binding is the PSM bridge.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53872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8FF"/>
                </a:solidFill>
              </a:rPr>
              <a:t>MDA is most valuable in large enterprise teams, regulatory environments, and multi-platform products — not for quick prototypes.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4215384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8FF"/>
                </a:solidFill>
              </a:rPr>
              <a:t>The future of MDA points toward AI-assisted modeling, low-code platforms, and declarative UI frameworks as natural PSM targets.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0FC98-3AAD-8886-636F-55097DAE2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B3F7D1-FE72-E79E-96CA-A1486DE2BC3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6968E6-7B3C-C7E4-92A3-C45B656A013E}"/>
              </a:ext>
            </a:extLst>
          </p:cNvPr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2A114E-9181-4B9C-6E89-C0DD07687DA6}"/>
              </a:ext>
            </a:extLst>
          </p:cNvPr>
          <p:cNvSpPr txBox="1"/>
          <p:nvPr/>
        </p:nvSpPr>
        <p:spPr>
          <a:xfrm>
            <a:off x="3046675" y="1899033"/>
            <a:ext cx="304965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i="1">
                <a:solidFill>
                  <a:srgbClr val="FFFFFF"/>
                </a:solidFill>
              </a:rPr>
              <a:t>Thank You</a:t>
            </a:r>
            <a:endParaRPr lang="en-US" sz="4800" b="1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57EAE8-8E35-5042-CF8F-0DAD479877CC}"/>
              </a:ext>
            </a:extLst>
          </p:cNvPr>
          <p:cNvSpPr txBox="1"/>
          <p:nvPr/>
        </p:nvSpPr>
        <p:spPr>
          <a:xfrm>
            <a:off x="3875983" y="2573261"/>
            <a:ext cx="13268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>
                <a:solidFill>
                  <a:schemeClr val="bg1"/>
                </a:solidFill>
                <a:ea typeface="Calibri"/>
                <a:cs typeface="Calibri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82905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Model-Driven Mobile Architecture</dc:title>
  <dc:subject>PptxGenJS Presentation</dc:subject>
  <dc:creator>Enterprise Mobile Development</dc:creator>
  <cp:lastModifiedBy>Enterprise Mobile Development</cp:lastModifiedBy>
  <cp:revision>153</cp:revision>
  <dcterms:created xsi:type="dcterms:W3CDTF">2026-05-15T09:44:24Z</dcterms:created>
  <dcterms:modified xsi:type="dcterms:W3CDTF">2026-05-15T15:46:36Z</dcterms:modified>
</cp:coreProperties>
</file>